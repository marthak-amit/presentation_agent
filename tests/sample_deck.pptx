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introduce Nimbus Analytics, our real-time analytics product built for small retail teams. Our mission is to give a corner store the same insight a national chain has. Today I will cover the problem, the product, our traction, pricing and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retailers lose about eight percent of their revenue to stockouts because they find out too late. The tools that exist cost more than two thousand dollars a month, which is out of reach for a single store. So most owners end up deciding from gut feel instead of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Nimbus connects to Shopify or Square in about ten minutes, with no engineers needed. The dashboard refreshes every five seconds, so you always see what is selling right now. The feature owners love most is automatic reorder alerts, which warn you before a shelf goes empty.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launched a pilot in March and the numbers have been encouraging. Our fastest-growing tier is the Growth plan, and weekly active usage is above ninety percent across all tiers. Customers in the pilot cut stockouts by roughly a third within two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simple. Starter is forty-nine dollars a month, Growth is one hundred forty-nine, and Scale is three hundred ninety-nine. On the roadmap, the mobile app ships in the fourth quarter, and multi-store rollups arrive in the first quarter of 2027. I would love to hear your questions on any of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Nimbus Analytics: 2026 Product Vision</a:t>
            </a:r>
          </a:p>
        </p:txBody>
      </p:sp>
      <p:sp>
        <p:nvSpPr>
          <p:cNvPr id="3" name="Subtitle 2"/>
          <p:cNvSpPr>
            <a:spLocks noGrp="1"/>
          </p:cNvSpPr>
          <p:nvPr>
            <p:ph type="subTitle" idx="1"/>
          </p:nvPr>
        </p:nvSpPr>
        <p:spPr/>
        <p:txBody>
          <a:bodyPr/>
          <a:lstStyle/>
          <a:p>
            <a:r>
              <a:rPr sz="2400"/>
              <a:t>Real-time analytics for small retail teams</a:t>
            </a:r>
          </a:p>
          <a:p>
            <a:r>
              <a:rPr sz="2400"/>
              <a:t>Q3 2026 all-hands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rPr sz="2400"/>
              <a:t>Small retailers lose 8 percent of revenue to stockouts</a:t>
            </a:r>
          </a:p>
          <a:p>
            <a:r>
              <a:rPr sz="2400"/>
              <a:t>Existing tools cost over 2,000 dollars per month</a:t>
            </a:r>
          </a:p>
          <a:p>
            <a:r>
              <a:rPr sz="2400"/>
              <a:t>Most owners decide from gut feel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Product</a:t>
            </a:r>
          </a:p>
        </p:txBody>
      </p:sp>
      <p:sp>
        <p:nvSpPr>
          <p:cNvPr id="3" name="Content Placeholder 2"/>
          <p:cNvSpPr>
            <a:spLocks noGrp="1"/>
          </p:cNvSpPr>
          <p:nvPr>
            <p:ph idx="1"/>
          </p:nvPr>
        </p:nvSpPr>
        <p:spPr/>
        <p:txBody>
          <a:bodyPr/>
          <a:lstStyle/>
          <a:p>
            <a:r>
              <a:rPr sz="2400"/>
              <a:t>Live dashboard updated every 5 seconds</a:t>
            </a:r>
          </a:p>
          <a:p>
            <a:r>
              <a:rPr sz="2400"/>
              <a:t>Plugs into Shopify and Square in 10 minutes</a:t>
            </a:r>
          </a:p>
          <a:p>
            <a:r>
              <a:rPr sz="2400"/>
              <a:t>Automatic reorder alerts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Traction</a:t>
            </a:r>
          </a:p>
        </p:txBody>
      </p:sp>
      <p:sp>
        <p:nvSpPr>
          <p:cNvPr id="3" name="Content Placeholder 2"/>
          <p:cNvSpPr>
            <a:spLocks noGrp="1"/>
          </p:cNvSpPr>
          <p:nvPr>
            <p:ph idx="1"/>
          </p:nvPr>
        </p:nvSpPr>
        <p:spPr/>
        <p:txBody>
          <a:bodyPr/>
          <a:lstStyle/>
          <a:p>
            <a:r>
              <a:rPr sz="2400"/>
              <a:t>Pilot results across 3 customer tiers</a:t>
            </a:r>
          </a:p>
        </p:txBody>
      </p:sp>
      <p:graphicFrame>
        <p:nvGraphicFramePr>
          <p:cNvPr id="4" name="Table 3"/>
          <p:cNvGraphicFramePr>
            <a:graphicFrameLocks noGrp="1"/>
          </p:cNvGraphicFramePr>
          <p:nvPr/>
        </p:nvGraphicFramePr>
        <p:xfrm>
          <a:off x="914400" y="3291840"/>
          <a:ext cx="7315200" cy="2194560"/>
        </p:xfrm>
        <a:graphic>
          <a:graphicData uri="http://schemas.openxmlformats.org/drawingml/2006/table">
            <a:tbl>
              <a:tblPr firstRow="1" bandRow="1">
                <a:tableStyleId>{5C22544A-7EE6-4342-B048-85BDC9FD1C3A}</a:tableStyleId>
              </a:tblPr>
              <a:tblGrid>
                <a:gridCol w="2438400"/>
                <a:gridCol w="2438400"/>
                <a:gridCol w="2438400"/>
              </a:tblGrid>
              <a:tr h="548640">
                <a:tc>
                  <a:txBody>
                    <a:bodyPr/>
                    <a:lstStyle/>
                    <a:p>
                      <a:r>
                        <a:t>Tier</a:t>
                      </a:r>
                    </a:p>
                  </a:txBody>
                  <a:tcPr/>
                </a:tc>
                <a:tc>
                  <a:txBody>
                    <a:bodyPr/>
                    <a:lstStyle/>
                    <a:p>
                      <a:r>
                        <a:t>Customers</a:t>
                      </a:r>
                    </a:p>
                  </a:txBody>
                  <a:tcPr/>
                </a:tc>
                <a:tc>
                  <a:txBody>
                    <a:bodyPr/>
                    <a:lstStyle/>
                    <a:p>
                      <a:r>
                        <a:t>MRR (USD)</a:t>
                      </a:r>
                    </a:p>
                  </a:txBody>
                  <a:tcPr/>
                </a:tc>
              </a:tr>
              <a:tr h="548640">
                <a:tc>
                  <a:txBody>
                    <a:bodyPr/>
                    <a:lstStyle/>
                    <a:p>
                      <a:r>
                        <a:t>Starter</a:t>
                      </a:r>
                    </a:p>
                  </a:txBody>
                  <a:tcPr/>
                </a:tc>
                <a:tc>
                  <a:txBody>
                    <a:bodyPr/>
                    <a:lstStyle/>
                    <a:p>
                      <a:r>
                        <a:t>42</a:t>
                      </a:r>
                    </a:p>
                  </a:txBody>
                  <a:tcPr/>
                </a:tc>
                <a:tc>
                  <a:txBody>
                    <a:bodyPr/>
                    <a:lstStyle/>
                    <a:p>
                      <a:r>
                        <a:t>2,058</a:t>
                      </a:r>
                    </a:p>
                  </a:txBody>
                  <a:tcPr/>
                </a:tc>
              </a:tr>
              <a:tr h="548640">
                <a:tc>
                  <a:txBody>
                    <a:bodyPr/>
                    <a:lstStyle/>
                    <a:p>
                      <a:r>
                        <a:t>Growth</a:t>
                      </a:r>
                    </a:p>
                  </a:txBody>
                  <a:tcPr/>
                </a:tc>
                <a:tc>
                  <a:txBody>
                    <a:bodyPr/>
                    <a:lstStyle/>
                    <a:p>
                      <a:r>
                        <a:t>17</a:t>
                      </a:r>
                    </a:p>
                  </a:txBody>
                  <a:tcPr/>
                </a:tc>
                <a:tc>
                  <a:txBody>
                    <a:bodyPr/>
                    <a:lstStyle/>
                    <a:p>
                      <a:r>
                        <a:t>2,533</a:t>
                      </a:r>
                    </a:p>
                  </a:txBody>
                  <a:tcPr/>
                </a:tc>
              </a:tr>
              <a:tr h="548640">
                <a:tc>
                  <a:txBody>
                    <a:bodyPr/>
                    <a:lstStyle/>
                    <a:p>
                      <a:r>
                        <a:t>Scale</a:t>
                      </a:r>
                    </a:p>
                  </a:txBody>
                  <a:tcPr/>
                </a:tc>
                <a:tc>
                  <a:txBody>
                    <a:bodyPr/>
                    <a:lstStyle/>
                    <a:p>
                      <a:r>
                        <a:t>4</a:t>
                      </a:r>
                    </a:p>
                  </a:txBody>
                  <a:tcPr/>
                </a:tc>
                <a:tc>
                  <a:txBody>
                    <a:bodyPr/>
                    <a:lstStyle/>
                    <a:p>
                      <a:r>
                        <a:t>1,596</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and Roadmap</a:t>
            </a:r>
          </a:p>
        </p:txBody>
      </p:sp>
      <p:sp>
        <p:nvSpPr>
          <p:cNvPr id="3" name="Content Placeholder 2"/>
          <p:cNvSpPr>
            <a:spLocks noGrp="1"/>
          </p:cNvSpPr>
          <p:nvPr>
            <p:ph idx="1"/>
          </p:nvPr>
        </p:nvSpPr>
        <p:spPr/>
        <p:txBody>
          <a:bodyPr/>
          <a:lstStyle/>
          <a:p>
            <a:r>
              <a:rPr sz="2400"/>
              <a:t>Starter 49 dollars, Growth 149 dollars, Scale 399 dollars</a:t>
            </a:r>
          </a:p>
          <a:p>
            <a:r>
              <a:rPr sz="2400"/>
              <a:t>Mobile app ships in Q4</a:t>
            </a:r>
          </a:p>
          <a:p>
            <a:r>
              <a:rPr sz="2400"/>
              <a:t>Multi-store rollups in Q1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